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embeddedFontLst>
    <p:embeddedFont>
      <p:font typeface="Barlow" panose="00000500000000000000" pitchFamily="2" charset="0"/>
      <p:regular r:id="rId12"/>
    </p:embeddedFont>
    <p:embeddedFont>
      <p:font typeface="Barlow Bold" panose="020B0604020202020204" charset="0"/>
      <p:regular r:id="rId13"/>
    </p:embeddedFont>
    <p:embeddedFont>
      <p:font typeface="Spline Sans Bold" panose="020B0604020202020204" charset="0"/>
      <p:regular r:id="rId14"/>
    </p:embeddedFont>
    <p:embeddedFont>
      <p:font typeface="Spline Sans Light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86202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81B">
              <a:alpha val="75000"/>
            </a:srgbClr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72" y="520799"/>
            <a:ext cx="4362043" cy="581630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306086" y="1209774"/>
            <a:ext cx="6151409" cy="11654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Recursion Tree Method: Solving T(n) = 3T(n/2) + n</a:t>
            </a:r>
            <a:endParaRPr lang="en-US" sz="3650" dirty="0"/>
          </a:p>
        </p:txBody>
      </p:sp>
      <p:sp>
        <p:nvSpPr>
          <p:cNvPr id="5" name="Text 2"/>
          <p:cNvSpPr/>
          <p:nvPr/>
        </p:nvSpPr>
        <p:spPr>
          <a:xfrm>
            <a:off x="5306086" y="2689820"/>
            <a:ext cx="6151409" cy="2958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visual approach to analyzing divide-and-conquer recurrences in Computer Science.</a:t>
            </a:r>
            <a:endParaRPr lang="en-US" sz="1650" dirty="0"/>
          </a:p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NAME:- N.Thanveer basha</a:t>
            </a:r>
            <a:endParaRPr lang="en-US" sz="1650" dirty="0"/>
          </a:p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REG.NO:-192372122</a:t>
            </a:r>
            <a:endParaRPr lang="en-US" sz="1650" dirty="0"/>
          </a:p>
          <a:p>
            <a:pPr marL="0" indent="0" algn="l">
              <a:lnSpc>
                <a:spcPct val="133000"/>
              </a:lnSpc>
              <a:spcAft>
                <a:spcPts val="1850"/>
              </a:spcAft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COURSE CODE :- CSA0612</a:t>
            </a:r>
            <a:endParaRPr lang="en-US" sz="165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COURSE NAME:- DESIGN AND ANLYSIS OF ALGORITHM </a:t>
            </a:r>
            <a:endParaRPr lang="en-US" sz="16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1762" y="490240"/>
            <a:ext cx="4407881" cy="587742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755055"/>
            <a:ext cx="6151409" cy="455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What is the Recursion Tree Method?</a:t>
            </a:r>
            <a:endParaRPr lang="en-US" sz="28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34200" y="1402259"/>
            <a:ext cx="6151409" cy="113754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93353" y="1585218"/>
            <a:ext cx="570930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993353" y="1889720"/>
            <a:ext cx="5709301" cy="46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visual technique to solve recurrences by expanding recursive calls into a tree structure, making cost accumulation explicit at every level.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200" y="2667794"/>
            <a:ext cx="6151409" cy="1137543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993353" y="2850753"/>
            <a:ext cx="570930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Goal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993353" y="3155255"/>
            <a:ext cx="5709301" cy="46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Sum the cost at every level of the tree to derive the total running time of the recurrence.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4200" y="3933329"/>
            <a:ext cx="6151409" cy="1137543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93353" y="4116288"/>
            <a:ext cx="570930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Best Used For</a:t>
            </a:r>
            <a:endParaRPr lang="en-US" sz="1400" dirty="0"/>
          </a:p>
        </p:txBody>
      </p:sp>
      <p:sp>
        <p:nvSpPr>
          <p:cNvPr id="13" name="Text 7"/>
          <p:cNvSpPr/>
          <p:nvPr/>
        </p:nvSpPr>
        <p:spPr>
          <a:xfrm>
            <a:off x="993353" y="4420791"/>
            <a:ext cx="5709301" cy="467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Recurrences of the form </a:t>
            </a: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T(n) = aT(n/b) + f(n)</a:t>
            </a: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where a ≥ 1, b &gt; 1 — the classic divide-and-conquer shape.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34200" y="5198864"/>
            <a:ext cx="6151409" cy="90398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993353" y="5381823"/>
            <a:ext cx="5709301" cy="2277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Our Recurrence</a:t>
            </a:r>
            <a:endParaRPr lang="en-US" sz="1400" dirty="0"/>
          </a:p>
        </p:txBody>
      </p:sp>
      <p:sp>
        <p:nvSpPr>
          <p:cNvPr id="16" name="Text 9"/>
          <p:cNvSpPr/>
          <p:nvPr/>
        </p:nvSpPr>
        <p:spPr>
          <a:xfrm>
            <a:off x="993353" y="5686326"/>
            <a:ext cx="5709301" cy="233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T(n) = 3T(n/2) + n</a:t>
            </a:r>
            <a:r>
              <a:rPr lang="en-US" sz="12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— branching factor 3, subproblem size halved at each level.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18641"/>
            <a:ext cx="10723294" cy="4078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Structure of the Recursion Tree</a:t>
            </a:r>
            <a:endParaRPr lang="en-US" sz="25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2695" y="1332111"/>
            <a:ext cx="7506306" cy="34353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841114" y="1874533"/>
            <a:ext cx="1475992" cy="18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Leaves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7841114" y="2118078"/>
            <a:ext cx="1830230" cy="14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Level log₂n: T(1) leaves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2726802" y="3003695"/>
            <a:ext cx="1475992" cy="1845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Level 1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2520164" y="3247240"/>
            <a:ext cx="1682631" cy="14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ct val="89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 nodes n/2 each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841114" y="3586726"/>
            <a:ext cx="1475992" cy="1845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Level 0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841114" y="3830271"/>
            <a:ext cx="1830230" cy="1411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9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Root n (cost n)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34200" y="4998641"/>
            <a:ext cx="2539837" cy="1025128"/>
          </a:xfrm>
          <a:prstGeom prst="roundRect">
            <a:avLst>
              <a:gd name="adj" fmla="val 21489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893740" y="5158184"/>
            <a:ext cx="2220758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Root (Level 0)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893740" y="5464969"/>
            <a:ext cx="2220758" cy="1996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Problem of size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cost =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376826" y="4998641"/>
            <a:ext cx="2539936" cy="1025128"/>
          </a:xfrm>
          <a:prstGeom prst="roundRect">
            <a:avLst>
              <a:gd name="adj" fmla="val 21489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3536365" y="5158184"/>
            <a:ext cx="222085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Branching Factor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3536365" y="5464969"/>
            <a:ext cx="222085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node spawns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 children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; subproblem size at level i is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n/2ⁱ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81283" y="4998641"/>
            <a:ext cx="2539837" cy="1025128"/>
          </a:xfrm>
          <a:prstGeom prst="roundRect">
            <a:avLst>
              <a:gd name="adj" fmla="val 21489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4"/>
          <p:cNvSpPr/>
          <p:nvPr/>
        </p:nvSpPr>
        <p:spPr>
          <a:xfrm>
            <a:off x="6440822" y="5158184"/>
            <a:ext cx="2220758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Tree Height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6440822" y="5464969"/>
            <a:ext cx="2220758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Recursion stops when n/2ⁱ = 1 → height =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log₂n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levels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8923908" y="4998641"/>
            <a:ext cx="2539936" cy="1025128"/>
          </a:xfrm>
          <a:prstGeom prst="roundRect">
            <a:avLst>
              <a:gd name="adj" fmla="val 21489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Text 17"/>
          <p:cNvSpPr/>
          <p:nvPr/>
        </p:nvSpPr>
        <p:spPr>
          <a:xfrm>
            <a:off x="9083448" y="5158184"/>
            <a:ext cx="2220857" cy="2039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Leaf Count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9083448" y="5464969"/>
            <a:ext cx="2220857" cy="399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At depth log₂n: </a:t>
            </a:r>
            <a:r>
              <a:rPr lang="en-US" sz="11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3^(log₂n) = n^(log₂3)</a:t>
            </a:r>
            <a:r>
              <a:rPr lang="en-US" sz="11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leaves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966986"/>
            <a:ext cx="10723294" cy="553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Cost at Each Level</a:t>
            </a:r>
            <a:endParaRPr lang="en-US" sz="3450" dirty="0"/>
          </a:p>
        </p:txBody>
      </p:sp>
      <p:sp>
        <p:nvSpPr>
          <p:cNvPr id="3" name="Shape 1"/>
          <p:cNvSpPr/>
          <p:nvPr/>
        </p:nvSpPr>
        <p:spPr>
          <a:xfrm>
            <a:off x="734200" y="2017514"/>
            <a:ext cx="5679040" cy="3660577"/>
          </a:xfrm>
          <a:prstGeom prst="roundRect">
            <a:avLst>
              <a:gd name="adj" fmla="val 8167"/>
            </a:avLst>
          </a:prstGeom>
          <a:noFill/>
          <a:ln w="6350">
            <a:solidFill>
              <a:srgbClr val="FFFFFF">
                <a:alpha val="24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734200" y="2888853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734200" y="3446066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734200" y="4003278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734200" y="4560491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734200" y="5117703"/>
            <a:ext cx="5679040" cy="12457"/>
          </a:xfrm>
          <a:prstGeom prst="rect">
            <a:avLst/>
          </a:prstGeom>
          <a:solidFill>
            <a:srgbClr val="FFFFFF">
              <a:alpha val="24000"/>
            </a:srgbClr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740848" y="2023864"/>
            <a:ext cx="1416511" cy="864989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40074" y="2143820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Level (i)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2157359" y="2023864"/>
            <a:ext cx="1416511" cy="864989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2356585" y="2143820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Nodes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3573869" y="2023864"/>
            <a:ext cx="1416511" cy="864989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3773095" y="2143820"/>
            <a:ext cx="1018058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 per Node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4990380" y="2023864"/>
            <a:ext cx="1416511" cy="864989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5189606" y="2143820"/>
            <a:ext cx="1018058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Total Cost at Level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940074" y="301198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0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2356585" y="301198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3773095" y="301198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5189606" y="301198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40074" y="3569196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1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2356585" y="3569196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3773095" y="3569196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n/2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5189606" y="3569196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(3/2)n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940074" y="4126409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2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2356585" y="4126409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9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3773095" y="4126409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n/4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189606" y="4126409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(3/2)²n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940074" y="4683621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2356585" y="4683621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3ⁱ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3773095" y="4683621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n/2ⁱ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5189606" y="4683621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(3/2)ⁱ · n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940074" y="524083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log₂n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2356585" y="524083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n^log₂3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3773095" y="524083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Θ(1)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5189606" y="5240834"/>
            <a:ext cx="1627643" cy="310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Θ(n^log₂3)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6905750" y="1993900"/>
            <a:ext cx="4558095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Insight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6905750" y="2460030"/>
            <a:ext cx="4558095" cy="17251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spcAft>
                <a:spcPts val="1300"/>
              </a:spcAft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Each level's cost grows by a factor of </a:t>
            </a:r>
            <a:r>
              <a:rPr lang="en-US" sz="155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3/2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compared to the level above.</a:t>
            </a:r>
            <a:endParaRPr lang="en-US" sz="155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This makes the tree </a:t>
            </a:r>
            <a:r>
              <a:rPr lang="en-US" sz="15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cost-increasing</a:t>
            </a:r>
            <a:r>
              <a:rPr lang="en-US" sz="15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from top to bottom — the deeper you go, the more total work is done at that level.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6905750" y="4398070"/>
            <a:ext cx="4558095" cy="1062236"/>
          </a:xfrm>
          <a:prstGeom prst="roundRect">
            <a:avLst>
              <a:gd name="adj" fmla="val 28145"/>
            </a:avLst>
          </a:prstGeom>
          <a:solidFill>
            <a:srgbClr val="00805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4976" y="4701381"/>
            <a:ext cx="249132" cy="199231"/>
          </a:xfrm>
          <a:prstGeom prst="rect">
            <a:avLst/>
          </a:prstGeom>
        </p:spPr>
      </p:pic>
      <p:sp>
        <p:nvSpPr>
          <p:cNvPr id="41" name="Text 38"/>
          <p:cNvSpPr/>
          <p:nvPr/>
        </p:nvSpPr>
        <p:spPr>
          <a:xfrm>
            <a:off x="7553334" y="4618236"/>
            <a:ext cx="3711284" cy="62190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The ratio 3/2 &gt; 1 tells us immediately that leaf cost will dominate the total.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941288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Total Cost Derivation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734200" y="1943596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01</a:t>
            </a:r>
            <a:endParaRPr lang="en-US" sz="1650" dirty="0"/>
          </a:p>
        </p:txBody>
      </p:sp>
      <p:sp>
        <p:nvSpPr>
          <p:cNvPr id="4" name="Shape 2"/>
          <p:cNvSpPr/>
          <p:nvPr/>
        </p:nvSpPr>
        <p:spPr>
          <a:xfrm>
            <a:off x="734200" y="2274689"/>
            <a:ext cx="5256776" cy="25400"/>
          </a:xfrm>
          <a:prstGeom prst="rect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34200" y="2430363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Sum Over All Levels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34200" y="2847578"/>
            <a:ext cx="525677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T(n) = Σᵢ₌₀^(log₂n − 1) (3/2)ⁱ · n + Θ(n^log₂3)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6200719" y="1943596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02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6200719" y="2274689"/>
            <a:ext cx="5256776" cy="25400"/>
          </a:xfrm>
          <a:prstGeom prst="rect">
            <a:avLst/>
          </a:prstGeom>
          <a:solidFill>
            <a:srgbClr val="29DDD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00719" y="2430363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Apply Geometric Series Formula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200719" y="2847578"/>
            <a:ext cx="525677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Σ (3/2)ⁱ = [(3/2)^(log₂n) − 1] / (3/2 − 1) = </a:t>
            </a: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2[(3/2)^(log₂n) − 1]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734200" y="3550345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03</a:t>
            </a:r>
            <a:endParaRPr lang="en-US" sz="1650" dirty="0"/>
          </a:p>
        </p:txBody>
      </p:sp>
      <p:sp>
        <p:nvSpPr>
          <p:cNvPr id="12" name="Shape 10"/>
          <p:cNvSpPr/>
          <p:nvPr/>
        </p:nvSpPr>
        <p:spPr>
          <a:xfrm>
            <a:off x="734200" y="3881438"/>
            <a:ext cx="5256776" cy="25400"/>
          </a:xfrm>
          <a:prstGeom prst="rect">
            <a:avLst/>
          </a:prstGeom>
          <a:solidFill>
            <a:srgbClr val="37A7E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734200" y="4037112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Simplify the Exponent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4200" y="4454327"/>
            <a:ext cx="5256776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(3/2)^(log₂n) = n^(log₂(3/2)) = </a:t>
            </a: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n^(log₂3 − 1)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200719" y="3550345"/>
            <a:ext cx="419586" cy="26223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Spline Sans Light" pitchFamily="34" charset="0"/>
                <a:ea typeface="Spline Sans Light" pitchFamily="34" charset="-122"/>
                <a:cs typeface="Spline Sans Light" pitchFamily="34" charset="-120"/>
              </a:rPr>
              <a:t>04</a:t>
            </a:r>
            <a:endParaRPr lang="en-US" sz="1650" dirty="0"/>
          </a:p>
        </p:txBody>
      </p:sp>
      <p:sp>
        <p:nvSpPr>
          <p:cNvPr id="16" name="Shape 14"/>
          <p:cNvSpPr/>
          <p:nvPr/>
        </p:nvSpPr>
        <p:spPr>
          <a:xfrm>
            <a:off x="6200719" y="3881438"/>
            <a:ext cx="5256776" cy="25400"/>
          </a:xfrm>
          <a:prstGeom prst="rect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6200719" y="4037112"/>
            <a:ext cx="525677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Combine and Conclude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200719" y="4454327"/>
            <a:ext cx="5256776" cy="671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Internal node cost = O(n · n^(log₂3 − 1)) = O(n^log₂3), which is </a:t>
            </a: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dominated by leaf cost Θ(n^log₂3)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734200" y="5548610"/>
            <a:ext cx="11332879" cy="368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endParaRPr lang="en-US" sz="185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5548610"/>
            <a:ext cx="10723294" cy="36800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4200" y="799505"/>
            <a:ext cx="10723294" cy="5827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Final Result: T(n) = Θ(n^log₂3)</a:t>
            </a:r>
            <a:endParaRPr lang="en-US" sz="36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00" y="1932781"/>
            <a:ext cx="5667432" cy="3889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19739" y="1906588"/>
            <a:ext cx="4544006" cy="2914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Interpreting the Result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19739" y="2407741"/>
            <a:ext cx="5153591" cy="3357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650" b="1" dirty="0">
                <a:solidFill>
                  <a:srgbClr val="16FFBB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log₂3 ≈ 1.585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, so T(n) = Θ(n^1.585).</a:t>
            </a:r>
            <a:endParaRPr lang="en-US" sz="1650" dirty="0"/>
          </a:p>
        </p:txBody>
      </p:sp>
      <p:sp>
        <p:nvSpPr>
          <p:cNvPr id="6" name="Text 3"/>
          <p:cNvSpPr/>
          <p:nvPr/>
        </p:nvSpPr>
        <p:spPr>
          <a:xfrm>
            <a:off x="6919739" y="2932311"/>
            <a:ext cx="4544006" cy="2832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Leaf cost dominates: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cost grows geometrically — most work is done at the deepest levels of the tree.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Super-linear but sub-quadratic: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The algorithm is strictly better than O(n²) and strictly worse than O(n log n).</a:t>
            </a:r>
            <a:endParaRPr lang="en-US" sz="1650" dirty="0"/>
          </a:p>
          <a:p>
            <a:pPr marL="335280" indent="-335280" algn="l">
              <a:lnSpc>
                <a:spcPct val="133000"/>
              </a:lnSpc>
              <a:buSzPct val="100000"/>
              <a:buChar char="•"/>
            </a:pPr>
            <a:r>
              <a:rPr lang="en-US" sz="165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Geometric ratio 3/2 &gt; 1</a:t>
            </a:r>
            <a:r>
              <a:rPr lang="en-US" sz="165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is the decisive factor — it drives all work toward the leaves.</a:t>
            </a:r>
            <a:endParaRPr lang="en-US" sz="1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906" y="499765"/>
            <a:ext cx="4393594" cy="5858371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622102"/>
            <a:ext cx="6151409" cy="495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Verification via Master Theorem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200" y="1344712"/>
            <a:ext cx="891557" cy="12227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777261" y="1523008"/>
            <a:ext cx="5108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Identify Parameters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1777261" y="1861542"/>
            <a:ext cx="5108348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T(n) = 3T(n/2) + n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a = 3, b = 2, f(n) = n</a:t>
            </a:r>
            <a:endParaRPr lang="en-US" sz="140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4200" y="2567484"/>
            <a:ext cx="891557" cy="1222772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777261" y="2745780"/>
            <a:ext cx="5108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Compute Critical Exponent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1777261" y="3084314"/>
            <a:ext cx="5108348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log_b(a) = log₂3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≈ 1.585</a:t>
            </a:r>
            <a:endParaRPr lang="en-US" sz="140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4200" y="3790255"/>
            <a:ext cx="891557" cy="1222772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777261" y="3968552"/>
            <a:ext cx="5108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Compare f(n) vs n^log₂3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1777261" y="4307086"/>
            <a:ext cx="5108348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f(n) = n = O(n¹)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Since 1 &lt; 1.585, f(n) = O(n^(log₂3 − ε)) for </a:t>
            </a: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ε ≈ 0.585</a:t>
            </a:r>
            <a:endParaRPr lang="en-US" sz="140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4200" y="5013027"/>
            <a:ext cx="891557" cy="1222772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777261" y="5191323"/>
            <a:ext cx="5108348" cy="247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Case 1 Applies ✓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1777261" y="5529858"/>
            <a:ext cx="5108348" cy="5276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4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T(n) = Θ(n^log₂3)</a:t>
            </a:r>
            <a:endParaRPr lang="en-US" sz="1400" dirty="0"/>
          </a:p>
          <a:p>
            <a:pPr marL="0" indent="0" algn="l">
              <a:lnSpc>
                <a:spcPct val="123000"/>
              </a:lnSpc>
              <a:buNone/>
            </a:pPr>
            <a:r>
              <a:rPr lang="en-US" sz="14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Confirms the recursion tree result exactly.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0A081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4796" y="467618"/>
            <a:ext cx="4441813" cy="592266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4200" y="593229"/>
            <a:ext cx="6151409" cy="3609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b="1" dirty="0">
                <a:solidFill>
                  <a:srgbClr val="F0FCFF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Key Takeaways</a:t>
            </a: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734200" y="1074936"/>
            <a:ext cx="6151409" cy="1321296"/>
          </a:xfrm>
          <a:prstGeom prst="roundRect">
            <a:avLst>
              <a:gd name="adj" fmla="val 14756"/>
            </a:avLst>
          </a:prstGeom>
          <a:solidFill>
            <a:srgbClr val="0A081B"/>
          </a:solidFill>
          <a:ln w="12700">
            <a:solidFill>
              <a:srgbClr val="16FFB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876873" y="1217613"/>
            <a:ext cx="389920" cy="389930"/>
          </a:xfrm>
          <a:prstGeom prst="ellipse">
            <a:avLst/>
          </a:prstGeom>
          <a:solidFill>
            <a:srgbClr val="16FFBB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4126" y="1324868"/>
            <a:ext cx="175414" cy="17541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76873" y="1688009"/>
            <a:ext cx="5866063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Recursion Tree Method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876873" y="1916807"/>
            <a:ext cx="5866063" cy="33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Provides intuitive, visual insight into how costs accumulate across levels of a divide-and-conquer algorithm.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34200" y="2476698"/>
            <a:ext cx="6151409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29DDD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7"/>
          <p:cNvSpPr/>
          <p:nvPr/>
        </p:nvSpPr>
        <p:spPr>
          <a:xfrm>
            <a:off x="876873" y="2619375"/>
            <a:ext cx="389920" cy="389930"/>
          </a:xfrm>
          <a:prstGeom prst="ellipse">
            <a:avLst/>
          </a:prstGeom>
          <a:solidFill>
            <a:srgbClr val="29DDD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84126" y="2726630"/>
            <a:ext cx="175414" cy="17541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76873" y="3089771"/>
            <a:ext cx="5866063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Geometric Growth (ratio &gt; 1)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76873" y="3318570"/>
            <a:ext cx="5866063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When the per-level cost ratio exceeds 1, leaf cost dominates and T(n) = Θ(n^log_b(a)).</a:t>
            </a:r>
            <a:endParaRPr lang="en-US" sz="1000" dirty="0"/>
          </a:p>
        </p:txBody>
      </p:sp>
      <p:sp>
        <p:nvSpPr>
          <p:cNvPr id="15" name="Shape 10"/>
          <p:cNvSpPr/>
          <p:nvPr/>
        </p:nvSpPr>
        <p:spPr>
          <a:xfrm>
            <a:off x="734200" y="3710087"/>
            <a:ext cx="6151409" cy="1321296"/>
          </a:xfrm>
          <a:prstGeom prst="roundRect">
            <a:avLst>
              <a:gd name="adj" fmla="val 14756"/>
            </a:avLst>
          </a:prstGeom>
          <a:solidFill>
            <a:srgbClr val="0A081B"/>
          </a:solidFill>
          <a:ln w="12700">
            <a:solidFill>
              <a:srgbClr val="37A7E7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1"/>
          <p:cNvSpPr/>
          <p:nvPr/>
        </p:nvSpPr>
        <p:spPr>
          <a:xfrm>
            <a:off x="876873" y="3852763"/>
            <a:ext cx="389920" cy="389930"/>
          </a:xfrm>
          <a:prstGeom prst="ellipse">
            <a:avLst/>
          </a:prstGeom>
          <a:solidFill>
            <a:srgbClr val="37A7E7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4126" y="3960019"/>
            <a:ext cx="175414" cy="17541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76873" y="4323159"/>
            <a:ext cx="5866063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Master Theorem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876873" y="4551958"/>
            <a:ext cx="5866063" cy="3367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A fast algebraic shortcut — the recursion tree is the rigorous proof behind it, revealing </a:t>
            </a:r>
            <a:r>
              <a:rPr lang="en-US" sz="1000" i="1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why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 each case holds.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734200" y="5111849"/>
            <a:ext cx="6151409" cy="1152922"/>
          </a:xfrm>
          <a:prstGeom prst="roundRect">
            <a:avLst>
              <a:gd name="adj" fmla="val 16911"/>
            </a:avLst>
          </a:prstGeom>
          <a:solidFill>
            <a:srgbClr val="0A081B"/>
          </a:solidFill>
          <a:ln w="12700">
            <a:solidFill>
              <a:srgbClr val="09123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5"/>
          <p:cNvSpPr/>
          <p:nvPr/>
        </p:nvSpPr>
        <p:spPr>
          <a:xfrm>
            <a:off x="876873" y="5254526"/>
            <a:ext cx="389920" cy="389930"/>
          </a:xfrm>
          <a:prstGeom prst="ellipse">
            <a:avLst/>
          </a:prstGeom>
          <a:solidFill>
            <a:srgbClr val="091231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4126" y="5361781"/>
            <a:ext cx="175414" cy="17541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876873" y="5724922"/>
            <a:ext cx="5866063" cy="1805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E0E4E6"/>
                </a:solidFill>
                <a:latin typeface="Spline Sans Bold" pitchFamily="34" charset="0"/>
                <a:ea typeface="Spline Sans Bold" pitchFamily="34" charset="-122"/>
                <a:cs typeface="Spline Sans Bold" pitchFamily="34" charset="-120"/>
              </a:rPr>
              <a:t>Confirmed Result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876873" y="5953720"/>
            <a:ext cx="5866063" cy="1683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For T(n) = 3T(n/2) + n, both methods confirm </a:t>
            </a:r>
            <a:r>
              <a:rPr lang="en-US" sz="1000" b="1" dirty="0">
                <a:solidFill>
                  <a:srgbClr val="E0E4E6"/>
                </a:solidFill>
                <a:latin typeface="Barlow Bold" pitchFamily="34" charset="0"/>
                <a:ea typeface="Barlow Bold" pitchFamily="34" charset="-122"/>
                <a:cs typeface="Barlow Bold" pitchFamily="34" charset="-120"/>
              </a:rPr>
              <a:t>T(n) = Θ(n^log₂3) ≈ Θ(n^1.585)</a:t>
            </a:r>
            <a:r>
              <a:rPr lang="en-US" sz="1000" dirty="0">
                <a:solidFill>
                  <a:srgbClr val="E0E4E6"/>
                </a:solidFill>
                <a:latin typeface="Barlow" pitchFamily="34" charset="0"/>
                <a:ea typeface="Barlow" pitchFamily="34" charset="-122"/>
                <a:cs typeface="Barlow" pitchFamily="34" charset="-120"/>
              </a:rPr>
              <a:t>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FCAFE-CC45-8685-205D-AE9A3A002B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6670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884</Words>
  <Application>Microsoft Office PowerPoint</Application>
  <PresentationFormat>Widescreen</PresentationFormat>
  <Paragraphs>108</Paragraphs>
  <Slides>9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Barlow</vt:lpstr>
      <vt:lpstr>Barlow Bold</vt:lpstr>
      <vt:lpstr>Spline Sans Bold</vt:lpstr>
      <vt:lpstr>Spline Sans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nallaballe srinivas</dc:creator>
  <cp:lastModifiedBy>nallaballe srinivas</cp:lastModifiedBy>
  <cp:revision>2</cp:revision>
  <dcterms:created xsi:type="dcterms:W3CDTF">2026-07-25T04:49:40Z</dcterms:created>
  <dcterms:modified xsi:type="dcterms:W3CDTF">2026-08-28T14:05:18Z</dcterms:modified>
</cp:coreProperties>
</file>